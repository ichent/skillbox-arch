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78"/>
  </p:normalViewPr>
  <p:slideViewPr>
    <p:cSldViewPr snapToGrid="0">
      <p:cViewPr varScale="1">
        <p:scale>
          <a:sx n="86" d="100"/>
          <a:sy n="86" d="100"/>
        </p:scale>
        <p:origin x="21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0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3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4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8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0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4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2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7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192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1141A-D0F3-03BF-2F8C-1F286E03D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Fitness</a:t>
            </a:r>
            <a:r>
              <a:rPr lang="en-US" dirty="0">
                <a:latin typeface="+mn-lt"/>
              </a:rPr>
              <a:t> </a:t>
            </a:r>
            <a:r>
              <a:rPr lang="en-US" dirty="0"/>
              <a:t>Driver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C072D-AAC4-F76E-3542-F803BF989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ru-RU" dirty="0"/>
              <a:t>Социальная платформа для фитнеса нового поколения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mart watch with a picture of a person on it&#10;&#10;AI-generated content may be incorrect.">
            <a:extLst>
              <a:ext uri="{FF2B5EF4-FFF2-40B4-BE49-F238E27FC236}">
                <a16:creationId xmlns:a16="http://schemas.microsoft.com/office/drawing/2014/main" id="{3815BA01-6B3A-5472-38BF-6D2262530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441430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5750-83C8-DB92-3DD5-739A9796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и Инсайт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C574-E09C-CE36-BBA6-DDB8814F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Боли:</a:t>
            </a:r>
            <a:br>
              <a:rPr lang="ru-RU" dirty="0"/>
            </a:br>
            <a:r>
              <a:rPr lang="ru-RU" dirty="0"/>
              <a:t>1. Фитнес-приложения скучные.</a:t>
            </a:r>
            <a:br>
              <a:rPr lang="ru-RU" dirty="0"/>
            </a:br>
            <a:r>
              <a:rPr lang="ru-RU" dirty="0"/>
              <a:t>2. Нет единого места для данных со всех устройств (зоопарк гаджетов).</a:t>
            </a:r>
            <a:br>
              <a:rPr lang="ru-RU" dirty="0"/>
            </a:br>
            <a:r>
              <a:rPr lang="ru-RU" dirty="0"/>
              <a:t>3. Приложения «падают» во время массовых марафонов.</a:t>
            </a:r>
            <a:endParaRPr lang="en-US" dirty="0"/>
          </a:p>
          <a:p>
            <a:r>
              <a:rPr lang="ru-RU" b="1" dirty="0"/>
              <a:t>Инсайт:</a:t>
            </a:r>
            <a:r>
              <a:rPr lang="ru-RU" dirty="0"/>
              <a:t> Люди хотят соревноваться в реальном времени, используя свои любимые гаджеты.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7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9B60A-DF9B-84B4-C6ED-25B9D65A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Решение (</a:t>
            </a:r>
            <a:r>
              <a:rPr lang="en-US" b="1" dirty="0"/>
              <a:t>Product Value)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5D27-F2E7-9F38-1D37-C909F72CB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Ключевые фичи:</a:t>
            </a:r>
            <a:br>
              <a:rPr lang="ru-RU" dirty="0"/>
            </a:br>
            <a:r>
              <a:rPr lang="en-US" dirty="0"/>
              <a:t>1. </a:t>
            </a:r>
            <a:r>
              <a:rPr lang="ru-RU" dirty="0"/>
              <a:t>Подключение любых датчиков (</a:t>
            </a:r>
            <a:r>
              <a:rPr lang="en-US" dirty="0"/>
              <a:t>BLE, HealthKit).</a:t>
            </a:r>
            <a:br>
              <a:rPr lang="en-US" dirty="0"/>
            </a:br>
            <a:r>
              <a:rPr lang="en-US" dirty="0"/>
              <a:t>2. </a:t>
            </a:r>
            <a:r>
              <a:rPr lang="ru-RU" dirty="0"/>
              <a:t>Тренировки в лесу без потери данных.</a:t>
            </a:r>
            <a:br>
              <a:rPr lang="ru-RU" dirty="0"/>
            </a:br>
            <a:r>
              <a:rPr lang="en-US" dirty="0"/>
              <a:t>3. </a:t>
            </a:r>
            <a:r>
              <a:rPr lang="ru-RU" dirty="0"/>
              <a:t>Соревнования и ачивки в реальном времени.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0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D7D9-3C8A-F59D-C56F-834CA9F1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(</a:t>
            </a:r>
            <a:r>
              <a:rPr lang="en-US" b="1" dirty="0"/>
              <a:t>High Level)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AABE4-0A4E-A869-2F8E-BE180B10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Схема:</a:t>
            </a:r>
            <a:r>
              <a:rPr lang="ru-RU" dirty="0"/>
              <a:t> Упрощенная схема (Мобилка -&gt; </a:t>
            </a:r>
            <a:r>
              <a:rPr lang="en-US" dirty="0"/>
              <a:t>Gateway -&gt; </a:t>
            </a:r>
            <a:r>
              <a:rPr lang="ru-RU" dirty="0"/>
              <a:t>Микросервисы).</a:t>
            </a:r>
            <a:endParaRPr lang="en-US" dirty="0"/>
          </a:p>
          <a:p>
            <a:r>
              <a:rPr lang="ru-RU" b="1" dirty="0"/>
              <a:t>Ключевое решение:</a:t>
            </a:r>
            <a:r>
              <a:rPr lang="ru-RU" dirty="0"/>
              <a:t> </a:t>
            </a:r>
            <a:r>
              <a:rPr lang="en-US" dirty="0"/>
              <a:t>Microservices + Event-Driven Architecture.</a:t>
            </a:r>
          </a:p>
          <a:p>
            <a:r>
              <a:rPr lang="ru-RU" b="1" dirty="0"/>
              <a:t>Почему так:</a:t>
            </a:r>
            <a:r>
              <a:rPr lang="ru-RU" dirty="0"/>
              <a:t> Позволяет обновлять «Геймификацию» без остановки «Тренировок».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1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7485-44D6-7C36-4A0A-1AF7691F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Технологическое сердце (</a:t>
            </a:r>
            <a:r>
              <a:rPr lang="en-US" b="1" dirty="0"/>
              <a:t>Tech Stack)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609B-F50C-5DA0-AEF3-8305203B1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Real-time:</a:t>
            </a:r>
            <a:r>
              <a:rPr lang="en-US" dirty="0"/>
              <a:t> Apache Kafka (</a:t>
            </a:r>
            <a:r>
              <a:rPr lang="ru-RU" dirty="0"/>
              <a:t>обработка 100</a:t>
            </a:r>
            <a:r>
              <a:rPr lang="en-US" dirty="0"/>
              <a:t>k </a:t>
            </a:r>
            <a:r>
              <a:rPr lang="ru-RU" dirty="0"/>
              <a:t>событий/сек).</a:t>
            </a:r>
            <a:endParaRPr lang="en-US" dirty="0"/>
          </a:p>
          <a:p>
            <a:r>
              <a:rPr lang="en-US" b="1" dirty="0"/>
              <a:t>IoT Data:</a:t>
            </a:r>
            <a:r>
              <a:rPr lang="en-US" dirty="0"/>
              <a:t> </a:t>
            </a:r>
            <a:r>
              <a:rPr lang="en-US" dirty="0" err="1"/>
              <a:t>TimescaleDB</a:t>
            </a:r>
            <a:r>
              <a:rPr lang="en-US" dirty="0"/>
              <a:t> (</a:t>
            </a:r>
            <a:r>
              <a:rPr lang="ru-RU" dirty="0"/>
              <a:t>хранение петабайтов телеметрии).</a:t>
            </a:r>
            <a:endParaRPr lang="en-US" dirty="0"/>
          </a:p>
          <a:p>
            <a:r>
              <a:rPr lang="en-US" b="1" dirty="0"/>
              <a:t>Scale:</a:t>
            </a:r>
            <a:r>
              <a:rPr lang="en-US" dirty="0"/>
              <a:t> Kubernetes (</a:t>
            </a:r>
            <a:r>
              <a:rPr lang="ru-RU" dirty="0" err="1"/>
              <a:t>автоскейлинг</a:t>
            </a:r>
            <a:r>
              <a:rPr lang="ru-RU" dirty="0"/>
              <a:t> при нагрузках).</a:t>
            </a:r>
            <a:endParaRPr lang="en-US" dirty="0"/>
          </a:p>
          <a:p>
            <a:r>
              <a:rPr lang="en-US" b="1" dirty="0"/>
              <a:t>Mobile:</a:t>
            </a:r>
            <a:r>
              <a:rPr lang="en-US" dirty="0"/>
              <a:t> React Native (</a:t>
            </a:r>
            <a:r>
              <a:rPr lang="ru-RU" dirty="0"/>
              <a:t>единый код для </a:t>
            </a:r>
            <a:r>
              <a:rPr lang="en-US" dirty="0"/>
              <a:t>iOS/Android).</a:t>
            </a:r>
          </a:p>
        </p:txBody>
      </p:sp>
    </p:spTree>
    <p:extLst>
      <p:ext uri="{BB962C8B-B14F-4D97-AF65-F5344CB8AC3E}">
        <p14:creationId xmlns:p14="http://schemas.microsoft.com/office/powerpoint/2010/main" val="2821419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7D11-B9CC-5A08-2A64-C4F4B043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Ключевой сценарий: «Марафон»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C327-C3B0-D826-A15C-BBFAAB6F6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Сценарий:</a:t>
            </a:r>
            <a:r>
              <a:rPr lang="ru-RU" dirty="0"/>
              <a:t> 50,000 человек стартуют одновременно.</a:t>
            </a:r>
            <a:endParaRPr lang="en-US" dirty="0"/>
          </a:p>
          <a:p>
            <a:r>
              <a:rPr lang="ru-RU" b="1" dirty="0"/>
              <a:t>Риск:</a:t>
            </a:r>
            <a:r>
              <a:rPr lang="ru-RU" dirty="0"/>
              <a:t> Лавина запросов (</a:t>
            </a:r>
            <a:r>
              <a:rPr lang="en-US" dirty="0"/>
              <a:t>Thundering Herd).</a:t>
            </a:r>
          </a:p>
          <a:p>
            <a:r>
              <a:rPr lang="ru-RU" b="1" dirty="0"/>
              <a:t>Решение:</a:t>
            </a:r>
            <a:r>
              <a:rPr lang="ru-RU" dirty="0"/>
              <a:t> Асинхронная запись через </a:t>
            </a:r>
            <a:r>
              <a:rPr lang="en-US" dirty="0"/>
              <a:t>Kafka. </a:t>
            </a:r>
            <a:r>
              <a:rPr lang="ru-RU" dirty="0"/>
              <a:t>Пользователь видит результат мгновенно, сервер обрабатывает аналитику в фоне. Никаких «504 </a:t>
            </a:r>
            <a:r>
              <a:rPr lang="en-US" dirty="0"/>
              <a:t>Gateway Timeout».</a:t>
            </a:r>
          </a:p>
        </p:txBody>
      </p:sp>
    </p:spTree>
    <p:extLst>
      <p:ext uri="{BB962C8B-B14F-4D97-AF65-F5344CB8AC3E}">
        <p14:creationId xmlns:p14="http://schemas.microsoft.com/office/powerpoint/2010/main" val="224216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BB0E-C513-4ADE-3CA4-540D3623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Экономика архитектуры (</a:t>
            </a:r>
            <a:r>
              <a:rPr lang="en-US" b="1" dirty="0"/>
              <a:t>TCO)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A87C0-B794-412C-CF42-825A60CC2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График:</a:t>
            </a:r>
            <a:r>
              <a:rPr lang="ru-RU" dirty="0"/>
              <a:t> Падение стоимости владения на 1 пользователя.</a:t>
            </a:r>
            <a:endParaRPr lang="en-US" dirty="0"/>
          </a:p>
          <a:p>
            <a:r>
              <a:rPr lang="ru-RU" b="1" dirty="0"/>
              <a:t>Год 1</a:t>
            </a:r>
            <a:r>
              <a:rPr lang="ru-RU" dirty="0"/>
              <a:t>: стоимость одного юзера – 50 рублей.</a:t>
            </a:r>
            <a:endParaRPr lang="en-US" dirty="0"/>
          </a:p>
          <a:p>
            <a:r>
              <a:rPr lang="ru-RU" b="1" dirty="0"/>
              <a:t>Год 5</a:t>
            </a:r>
            <a:r>
              <a:rPr lang="ru-RU" dirty="0"/>
              <a:t>: стоимость одного юзера – 10 рублей.</a:t>
            </a:r>
            <a:endParaRPr lang="en-US" dirty="0"/>
          </a:p>
          <a:p>
            <a:r>
              <a:rPr lang="ru-RU" b="1" dirty="0"/>
              <a:t>Вывод:</a:t>
            </a:r>
            <a:r>
              <a:rPr lang="ru-RU" dirty="0"/>
              <a:t> Архитектура становится эффективнее с ростом масштаба.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9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AADD-D3D4-9C3E-9025-00D27D48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Безопасность и Риски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45F79-067B-7F31-020B-7496E4A41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ФЗ-152:</a:t>
            </a:r>
            <a:r>
              <a:rPr lang="ru-RU" dirty="0"/>
              <a:t> Раздельное хранение </a:t>
            </a:r>
            <a:r>
              <a:rPr lang="ru-RU" dirty="0" err="1"/>
              <a:t>ПДн</a:t>
            </a:r>
            <a:r>
              <a:rPr lang="ru-RU" dirty="0"/>
              <a:t> и телеметрии.</a:t>
            </a:r>
          </a:p>
          <a:p>
            <a:r>
              <a:rPr lang="en-US" b="1" dirty="0"/>
              <a:t>Reliability:</a:t>
            </a:r>
            <a:r>
              <a:rPr lang="en-US" dirty="0"/>
              <a:t> </a:t>
            </a:r>
            <a:r>
              <a:rPr lang="ru-RU" dirty="0"/>
              <a:t>Данные хранятся локально на телефоне до синхронизации. Потеря данных невозможна.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2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A7BB-830A-21F9-3F23-E64AA9DA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развития (</a:t>
            </a:r>
            <a:r>
              <a:rPr lang="en-US" b="1" dirty="0"/>
              <a:t>Roadmap)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6C52-6A35-9A9D-6295-4D2A8794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Q1-Q2:</a:t>
            </a:r>
            <a:r>
              <a:rPr lang="en-US" dirty="0"/>
              <a:t> MVP (Core training + Offline mode).</a:t>
            </a:r>
          </a:p>
          <a:p>
            <a:r>
              <a:rPr lang="en-US" b="1" dirty="0"/>
              <a:t>Q3-Q4:</a:t>
            </a:r>
            <a:r>
              <a:rPr lang="en-US" dirty="0"/>
              <a:t> Social features + Gamification engine.</a:t>
            </a:r>
          </a:p>
          <a:p>
            <a:r>
              <a:rPr lang="en-US" b="1" dirty="0"/>
              <a:t>Y2:</a:t>
            </a:r>
            <a:r>
              <a:rPr lang="en-US" dirty="0"/>
              <a:t> AI-</a:t>
            </a:r>
            <a:r>
              <a:rPr lang="ru-RU" dirty="0"/>
              <a:t>тренер и </a:t>
            </a:r>
            <a:r>
              <a:rPr lang="en-US" dirty="0"/>
              <a:t>Big Data </a:t>
            </a:r>
            <a:r>
              <a:rPr lang="ru-RU" dirty="0"/>
              <a:t>аналитика.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3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4C3-F59C-3E72-A31C-A54EF760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AAB9-5CB9-4BE3-5C86-FCEF7ABC3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Итог:</a:t>
            </a:r>
            <a:r>
              <a:rPr lang="ru-RU" dirty="0"/>
              <a:t> Мы спроектировали систему, готовую к миллионным нагрузкам, с низкой стоимостью эксплуатации и защитой от технических рисков.</a:t>
            </a:r>
            <a:endParaRPr lang="en-US" dirty="0"/>
          </a:p>
          <a:p>
            <a:r>
              <a:rPr lang="en-US" b="1" dirty="0"/>
              <a:t>Call to Action:</a:t>
            </a:r>
            <a:r>
              <a:rPr lang="en-US" dirty="0"/>
              <a:t> </a:t>
            </a:r>
            <a:r>
              <a:rPr lang="ru-RU" dirty="0"/>
              <a:t>Готовы к разработке </a:t>
            </a:r>
            <a:r>
              <a:rPr lang="en-US" dirty="0"/>
              <a:t>MVP.</a:t>
            </a:r>
          </a:p>
        </p:txBody>
      </p:sp>
    </p:spTree>
    <p:extLst>
      <p:ext uri="{BB962C8B-B14F-4D97-AF65-F5344CB8AC3E}">
        <p14:creationId xmlns:p14="http://schemas.microsoft.com/office/powerpoint/2010/main" val="3033470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359</Words>
  <Application>Microsoft Macintosh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Fitness Driver</vt:lpstr>
      <vt:lpstr>Проблема и Инсайт</vt:lpstr>
      <vt:lpstr>Решение (Product Value)</vt:lpstr>
      <vt:lpstr>Архитектура (High Level)</vt:lpstr>
      <vt:lpstr>Технологическое сердце (Tech Stack)</vt:lpstr>
      <vt:lpstr>Ключевой сценарий: «Марафон»</vt:lpstr>
      <vt:lpstr>Экономика архитектуры (TCO)</vt:lpstr>
      <vt:lpstr>Безопасность и Риски</vt:lpstr>
      <vt:lpstr>План развития (Roadmap)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d93091</dc:creator>
  <cp:lastModifiedBy>d93091</cp:lastModifiedBy>
  <cp:revision>3</cp:revision>
  <dcterms:created xsi:type="dcterms:W3CDTF">2026-02-21T10:19:09Z</dcterms:created>
  <dcterms:modified xsi:type="dcterms:W3CDTF">2026-02-21T10:52:57Z</dcterms:modified>
</cp:coreProperties>
</file>