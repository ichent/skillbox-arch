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3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711"/>
    <p:restoredTop sz="94678"/>
  </p:normalViewPr>
  <p:slideViewPr>
    <p:cSldViewPr snapToGrid="0">
      <p:cViewPr varScale="1">
        <p:scale>
          <a:sx n="86" d="100"/>
          <a:sy n="86" d="100"/>
        </p:scale>
        <p:origin x="216" y="7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2/21/26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08051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2/21/26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02474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2/21/26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0355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2/21/26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93490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2/21/26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21889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2/21/26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52056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2/21/26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02482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2/21/26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678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2/21/26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79205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2/21/26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72797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2/21/26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852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2/21/26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681920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72" r:id="rId6"/>
    <p:sldLayoutId id="2147483667" r:id="rId7"/>
    <p:sldLayoutId id="2147483668" r:id="rId8"/>
    <p:sldLayoutId id="2147483669" r:id="rId9"/>
    <p:sldLayoutId id="2147483671" r:id="rId10"/>
    <p:sldLayoutId id="2147483670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381141A-D0F3-03BF-2F8C-1F286E03DF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04552" y="871758"/>
            <a:ext cx="5825448" cy="3871143"/>
          </a:xfrm>
        </p:spPr>
        <p:txBody>
          <a:bodyPr>
            <a:normAutofit/>
          </a:bodyPr>
          <a:lstStyle/>
          <a:p>
            <a:r>
              <a:rPr lang="en-US" dirty="0"/>
              <a:t>Fitness</a:t>
            </a:r>
            <a:r>
              <a:rPr lang="en-US" dirty="0">
                <a:latin typeface="+mn-lt"/>
              </a:rPr>
              <a:t> </a:t>
            </a:r>
            <a:r>
              <a:rPr lang="en-US" dirty="0"/>
              <a:t>Driver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1C072D-AAC4-F76E-3542-F803BF98971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619964" y="4785543"/>
            <a:ext cx="5322013" cy="1005657"/>
          </a:xfrm>
        </p:spPr>
        <p:txBody>
          <a:bodyPr>
            <a:normAutofit/>
          </a:bodyPr>
          <a:lstStyle/>
          <a:p>
            <a:r>
              <a:rPr lang="ru-RU" dirty="0"/>
              <a:t>Социальная платформа для фитнеса нового поколения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1A09FC0-0C95-6BD5-55A9-B031450A008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455" r="39923" b="1"/>
          <a:stretch>
            <a:fillRect/>
          </a:stretch>
        </p:blipFill>
        <p:spPr>
          <a:xfrm>
            <a:off x="1" y="10"/>
            <a:ext cx="4876799" cy="6857989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723776" y="723900"/>
            <a:ext cx="5706224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CF06E40-3ECB-4820-95B5-8A70B07D4B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723776" y="6134100"/>
            <a:ext cx="56681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2075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1F5750-83C8-DB92-3DD5-739A97963F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Проблема и Инсайт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26C574-E09C-CE36-BBA6-DDB8814F35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b="1" dirty="0"/>
              <a:t>Боли:</a:t>
            </a:r>
            <a:br>
              <a:rPr lang="ru-RU" dirty="0"/>
            </a:br>
            <a:r>
              <a:rPr lang="ru-RU" dirty="0"/>
              <a:t>1. Фитнес-приложения скучные.</a:t>
            </a:r>
            <a:br>
              <a:rPr lang="ru-RU" dirty="0"/>
            </a:br>
            <a:r>
              <a:rPr lang="ru-RU" dirty="0"/>
              <a:t>2. Нет единого места для данных со всех устройств (зоопарк гаджетов).</a:t>
            </a:r>
            <a:br>
              <a:rPr lang="ru-RU" dirty="0"/>
            </a:br>
            <a:r>
              <a:rPr lang="ru-RU" dirty="0"/>
              <a:t>3. Приложения «падают» во время массовых марафонов.</a:t>
            </a:r>
            <a:endParaRPr lang="en-US" dirty="0"/>
          </a:p>
          <a:p>
            <a:r>
              <a:rPr lang="ru-RU" b="1" dirty="0"/>
              <a:t>Инсайт:</a:t>
            </a:r>
            <a:r>
              <a:rPr lang="ru-RU" dirty="0"/>
              <a:t> Люди хотят соревноваться в реальном времени, используя свои любимые гаджеты.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67778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69B60A-DF9B-84B4-C6ED-25B9D65AEB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Решение (</a:t>
            </a:r>
            <a:r>
              <a:rPr lang="en-US" b="1" dirty="0"/>
              <a:t>Product Value)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545D27-F2E7-9F38-1D37-C909F72CBC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b="1" dirty="0"/>
              <a:t>Ключевые фичи:</a:t>
            </a:r>
            <a:br>
              <a:rPr lang="ru-RU" dirty="0"/>
            </a:br>
            <a:r>
              <a:rPr lang="en-US" dirty="0"/>
              <a:t>1. </a:t>
            </a:r>
            <a:r>
              <a:rPr lang="ru-RU" dirty="0"/>
              <a:t>Подключение любых датчиков (</a:t>
            </a:r>
            <a:r>
              <a:rPr lang="en-US" dirty="0"/>
              <a:t>BLE, HealthKit).</a:t>
            </a:r>
            <a:br>
              <a:rPr lang="en-US" dirty="0"/>
            </a:br>
            <a:r>
              <a:rPr lang="en-US" dirty="0"/>
              <a:t>2. </a:t>
            </a:r>
            <a:r>
              <a:rPr lang="ru-RU" dirty="0"/>
              <a:t>Тренировки в лесу без потери данных.</a:t>
            </a:r>
            <a:br>
              <a:rPr lang="ru-RU" dirty="0"/>
            </a:br>
            <a:r>
              <a:rPr lang="en-US" dirty="0"/>
              <a:t>3. </a:t>
            </a:r>
            <a:r>
              <a:rPr lang="ru-RU" dirty="0"/>
              <a:t>Соревнования и ачивки в реальном времени.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04081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3DD7D9-3C8A-F59D-C56F-834CA9F114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Архитектура (</a:t>
            </a:r>
            <a:r>
              <a:rPr lang="en-US" b="1" dirty="0"/>
              <a:t>High Level)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BAABE4-0A4E-A869-2F8E-BE180B10CE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b="1" dirty="0"/>
              <a:t>Схема:</a:t>
            </a:r>
            <a:r>
              <a:rPr lang="ru-RU" dirty="0"/>
              <a:t> Упрощенная схема (Мобилка -&gt; </a:t>
            </a:r>
            <a:r>
              <a:rPr lang="en-US" dirty="0"/>
              <a:t>Gateway -&gt; </a:t>
            </a:r>
            <a:r>
              <a:rPr lang="ru-RU" dirty="0"/>
              <a:t>Микросервисы).</a:t>
            </a:r>
            <a:endParaRPr lang="en-US" dirty="0"/>
          </a:p>
          <a:p>
            <a:r>
              <a:rPr lang="ru-RU" b="1" dirty="0"/>
              <a:t>Ключевое решение:</a:t>
            </a:r>
            <a:r>
              <a:rPr lang="ru-RU" dirty="0"/>
              <a:t> </a:t>
            </a:r>
            <a:r>
              <a:rPr lang="en-US" dirty="0"/>
              <a:t>Microservices + Event-Driven Architecture.</a:t>
            </a:r>
          </a:p>
          <a:p>
            <a:r>
              <a:rPr lang="ru-RU" b="1" dirty="0"/>
              <a:t>Почему так:</a:t>
            </a:r>
            <a:r>
              <a:rPr lang="ru-RU" dirty="0"/>
              <a:t> Позволяет обновлять «Геймификацию» без остановки «Тренировок».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32145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A07485-44D6-7C36-4A0A-1AF7691F1A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Технологическое сердце (</a:t>
            </a:r>
            <a:r>
              <a:rPr lang="en-US" b="1" dirty="0"/>
              <a:t>Tech Stack)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A5609B-F50C-5DA0-AEF3-8305203B1A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Real-time:</a:t>
            </a:r>
            <a:r>
              <a:rPr lang="en-US" dirty="0"/>
              <a:t> Apache Kafka (</a:t>
            </a:r>
            <a:r>
              <a:rPr lang="ru-RU" dirty="0"/>
              <a:t>обработка 100</a:t>
            </a:r>
            <a:r>
              <a:rPr lang="en-US" dirty="0"/>
              <a:t>k </a:t>
            </a:r>
            <a:r>
              <a:rPr lang="ru-RU" dirty="0"/>
              <a:t>событий/сек).</a:t>
            </a:r>
            <a:endParaRPr lang="en-US" dirty="0"/>
          </a:p>
          <a:p>
            <a:r>
              <a:rPr lang="en-US" b="1" dirty="0"/>
              <a:t>IoT Data:</a:t>
            </a:r>
            <a:r>
              <a:rPr lang="en-US" dirty="0"/>
              <a:t> </a:t>
            </a:r>
            <a:r>
              <a:rPr lang="en-US" dirty="0" err="1"/>
              <a:t>TimescaleDB</a:t>
            </a:r>
            <a:r>
              <a:rPr lang="en-US" dirty="0"/>
              <a:t> (</a:t>
            </a:r>
            <a:r>
              <a:rPr lang="ru-RU" dirty="0"/>
              <a:t>хранение петабайтов телеметрии).</a:t>
            </a:r>
            <a:endParaRPr lang="en-US" dirty="0"/>
          </a:p>
          <a:p>
            <a:r>
              <a:rPr lang="en-US" b="1" dirty="0"/>
              <a:t>Scale:</a:t>
            </a:r>
            <a:r>
              <a:rPr lang="en-US" dirty="0"/>
              <a:t> Kubernetes (</a:t>
            </a:r>
            <a:r>
              <a:rPr lang="ru-RU" dirty="0" err="1"/>
              <a:t>автоскейлинг</a:t>
            </a:r>
            <a:r>
              <a:rPr lang="ru-RU" dirty="0"/>
              <a:t> при нагрузках).</a:t>
            </a:r>
            <a:endParaRPr lang="en-US" dirty="0"/>
          </a:p>
          <a:p>
            <a:r>
              <a:rPr lang="en-US" b="1" dirty="0"/>
              <a:t>Mobile:</a:t>
            </a:r>
            <a:r>
              <a:rPr lang="en-US" dirty="0"/>
              <a:t> React Native (</a:t>
            </a:r>
            <a:r>
              <a:rPr lang="ru-RU" dirty="0"/>
              <a:t>единый код для </a:t>
            </a:r>
            <a:r>
              <a:rPr lang="en-US" dirty="0"/>
              <a:t>iOS/Android).</a:t>
            </a:r>
          </a:p>
        </p:txBody>
      </p:sp>
    </p:spTree>
    <p:extLst>
      <p:ext uri="{BB962C8B-B14F-4D97-AF65-F5344CB8AC3E}">
        <p14:creationId xmlns:p14="http://schemas.microsoft.com/office/powerpoint/2010/main" val="28214190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557D11-B9CC-5A08-2A64-C4F4B0439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Ключевой сценарий: «Марафон»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7CC327-C3B0-D826-A15C-BBFAAB6F6C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b="1" dirty="0"/>
              <a:t>Сценарий:</a:t>
            </a:r>
            <a:r>
              <a:rPr lang="ru-RU" dirty="0"/>
              <a:t> 50,000 человек стартуют одновременно.</a:t>
            </a:r>
            <a:endParaRPr lang="en-US" dirty="0"/>
          </a:p>
          <a:p>
            <a:r>
              <a:rPr lang="ru-RU" b="1" dirty="0"/>
              <a:t>Риск:</a:t>
            </a:r>
            <a:r>
              <a:rPr lang="ru-RU" dirty="0"/>
              <a:t> Лавина запросов (</a:t>
            </a:r>
            <a:r>
              <a:rPr lang="en-US" dirty="0"/>
              <a:t>Thundering Herd).</a:t>
            </a:r>
          </a:p>
          <a:p>
            <a:r>
              <a:rPr lang="ru-RU" b="1" dirty="0"/>
              <a:t>Решение:</a:t>
            </a:r>
            <a:r>
              <a:rPr lang="ru-RU" dirty="0"/>
              <a:t> Асинхронная запись через </a:t>
            </a:r>
            <a:r>
              <a:rPr lang="en-US" dirty="0"/>
              <a:t>Kafka. </a:t>
            </a:r>
            <a:r>
              <a:rPr lang="ru-RU" dirty="0"/>
              <a:t>Пользователь видит результат мгновенно, сервер обрабатывает аналитику в фоне. Никаких «504 </a:t>
            </a:r>
            <a:r>
              <a:rPr lang="en-US" dirty="0"/>
              <a:t>Gateway Timeout».</a:t>
            </a:r>
          </a:p>
        </p:txBody>
      </p:sp>
    </p:spTree>
    <p:extLst>
      <p:ext uri="{BB962C8B-B14F-4D97-AF65-F5344CB8AC3E}">
        <p14:creationId xmlns:p14="http://schemas.microsoft.com/office/powerpoint/2010/main" val="22421662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FBB0E-C513-4ADE-3CA4-540D36231B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Экономика архитектуры (</a:t>
            </a:r>
            <a:r>
              <a:rPr lang="en-US" b="1" dirty="0"/>
              <a:t>TCO)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BA87C0-B794-412C-CF42-825A60CC20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b="1" dirty="0"/>
              <a:t>График:</a:t>
            </a:r>
            <a:r>
              <a:rPr lang="ru-RU" dirty="0"/>
              <a:t> Падение стоимости владения на 1 пользователя.</a:t>
            </a:r>
            <a:endParaRPr lang="en-US" dirty="0"/>
          </a:p>
          <a:p>
            <a:r>
              <a:rPr lang="ru-RU" b="1" dirty="0"/>
              <a:t>Год 1</a:t>
            </a:r>
            <a:r>
              <a:rPr lang="ru-RU" dirty="0"/>
              <a:t>: стоимость одного юзера – 50 рублей.</a:t>
            </a:r>
            <a:endParaRPr lang="en-US" dirty="0"/>
          </a:p>
          <a:p>
            <a:r>
              <a:rPr lang="ru-RU" b="1" dirty="0"/>
              <a:t>Год 5</a:t>
            </a:r>
            <a:r>
              <a:rPr lang="ru-RU" dirty="0"/>
              <a:t>: стоимость одного юзера – 10 рублей.</a:t>
            </a:r>
            <a:endParaRPr lang="en-US" dirty="0"/>
          </a:p>
          <a:p>
            <a:r>
              <a:rPr lang="ru-RU" b="1" dirty="0"/>
              <a:t>Вывод:</a:t>
            </a:r>
            <a:r>
              <a:rPr lang="ru-RU" dirty="0"/>
              <a:t> Архитектура становится эффективнее с ростом масштаба.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00921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13AADD-D3D4-9C3E-9025-00D27D482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Безопасность и Риски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745F79-067B-7F31-020B-7496E4A41A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b="1" dirty="0"/>
              <a:t>ФЗ-152:</a:t>
            </a:r>
            <a:r>
              <a:rPr lang="ru-RU" dirty="0"/>
              <a:t> Раздельное хранение </a:t>
            </a:r>
            <a:r>
              <a:rPr lang="ru-RU" dirty="0" err="1"/>
              <a:t>ПДн</a:t>
            </a:r>
            <a:r>
              <a:rPr lang="ru-RU" dirty="0"/>
              <a:t> и телеметрии.</a:t>
            </a:r>
          </a:p>
          <a:p>
            <a:r>
              <a:rPr lang="en-US" b="1" dirty="0"/>
              <a:t>Reliability:</a:t>
            </a:r>
            <a:r>
              <a:rPr lang="en-US" dirty="0"/>
              <a:t> </a:t>
            </a:r>
            <a:r>
              <a:rPr lang="ru-RU" dirty="0"/>
              <a:t>Данные хранятся локально на телефоне до синхронизации. Потеря данных невозможна.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80292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9AA7BB-830A-21F9-3F23-E64AA9DAD7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План развития (</a:t>
            </a:r>
            <a:r>
              <a:rPr lang="en-US" b="1" dirty="0"/>
              <a:t>Roadmap)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896C52-6A35-9A9D-6295-4D2A8794B0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Q1-Q2:</a:t>
            </a:r>
            <a:r>
              <a:rPr lang="en-US" dirty="0"/>
              <a:t> MVP (Core training + Offline mode).</a:t>
            </a:r>
          </a:p>
          <a:p>
            <a:r>
              <a:rPr lang="en-US" b="1" dirty="0"/>
              <a:t>Q3-Q4:</a:t>
            </a:r>
            <a:r>
              <a:rPr lang="en-US" dirty="0"/>
              <a:t> Social features + Gamification engine.</a:t>
            </a:r>
          </a:p>
          <a:p>
            <a:r>
              <a:rPr lang="en-US" b="1" dirty="0"/>
              <a:t>Y2:</a:t>
            </a:r>
            <a:r>
              <a:rPr lang="en-US" dirty="0"/>
              <a:t> AI-</a:t>
            </a:r>
            <a:r>
              <a:rPr lang="ru-RU" dirty="0"/>
              <a:t>тренер и </a:t>
            </a:r>
            <a:r>
              <a:rPr lang="en-US" dirty="0"/>
              <a:t>Big Data </a:t>
            </a:r>
            <a:r>
              <a:rPr lang="ru-RU" dirty="0"/>
              <a:t>аналитика.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18397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60A4C3-F59C-3E72-A31C-A54EF7600B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Заключение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1AAAB9-5CB9-4BE3-5C86-FCEF7ABC35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b="1" dirty="0"/>
              <a:t>Итог:</a:t>
            </a:r>
            <a:r>
              <a:rPr lang="ru-RU" dirty="0"/>
              <a:t> Мы спроектировали систему, готовую к миллионным нагрузкам, с низкой стоимостью эксплуатации и защитой от технических рисков.</a:t>
            </a:r>
            <a:endParaRPr lang="en-US" dirty="0"/>
          </a:p>
          <a:p>
            <a:r>
              <a:rPr lang="en-US" b="1" dirty="0"/>
              <a:t>Call to Action:</a:t>
            </a:r>
            <a:r>
              <a:rPr lang="en-US" dirty="0"/>
              <a:t> </a:t>
            </a:r>
            <a:r>
              <a:rPr lang="ru-RU" dirty="0"/>
              <a:t>Готовы к разработке </a:t>
            </a:r>
            <a:r>
              <a:rPr lang="en-US" dirty="0"/>
              <a:t>MVP.</a:t>
            </a:r>
          </a:p>
        </p:txBody>
      </p:sp>
    </p:spTree>
    <p:extLst>
      <p:ext uri="{BB962C8B-B14F-4D97-AF65-F5344CB8AC3E}">
        <p14:creationId xmlns:p14="http://schemas.microsoft.com/office/powerpoint/2010/main" val="3033470879"/>
      </p:ext>
    </p:extLst>
  </p:cSld>
  <p:clrMapOvr>
    <a:masterClrMapping/>
  </p:clrMapOvr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359</Words>
  <Application>Microsoft Macintosh PowerPoint</Application>
  <PresentationFormat>Widescreen</PresentationFormat>
  <Paragraphs>35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Calisto MT</vt:lpstr>
      <vt:lpstr>Univers Condensed</vt:lpstr>
      <vt:lpstr>ChronicleVTI</vt:lpstr>
      <vt:lpstr>Fitness Driver</vt:lpstr>
      <vt:lpstr>Проблема и Инсайт</vt:lpstr>
      <vt:lpstr>Решение (Product Value)</vt:lpstr>
      <vt:lpstr>Архитектура (High Level)</vt:lpstr>
      <vt:lpstr>Технологическое сердце (Tech Stack)</vt:lpstr>
      <vt:lpstr>Ключевой сценарий: «Марафон»</vt:lpstr>
      <vt:lpstr>Экономика архитектуры (TCO)</vt:lpstr>
      <vt:lpstr>Безопасность и Риски</vt:lpstr>
      <vt:lpstr>План развития (Roadmap)</vt:lpstr>
      <vt:lpstr>Заключение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d93091</dc:creator>
  <cp:lastModifiedBy>d93091</cp:lastModifiedBy>
  <cp:revision>2</cp:revision>
  <dcterms:created xsi:type="dcterms:W3CDTF">2026-02-21T10:19:09Z</dcterms:created>
  <dcterms:modified xsi:type="dcterms:W3CDTF">2026-02-21T10:36:56Z</dcterms:modified>
</cp:coreProperties>
</file>